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rgbClr val="1B4FB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2493441</c:v>
                </c:pt>
                <c:pt idx="1">
                  <c:v>2636416</c:v>
                </c:pt>
                <c:pt idx="2">
                  <c:v>2576470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1183475</c:v>
                </c:pt>
                <c:pt idx="1">
                  <c:v>1143032</c:v>
                </c:pt>
                <c:pt idx="2">
                  <c:v>1215998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Retail Customer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6440209</c:v>
                </c:pt>
                <c:pt idx="1">
                  <c:v>6464991</c:v>
                </c:pt>
                <c:pt idx="2">
                  <c:v>6275148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2460159</c:v>
                </c:pt>
                <c:pt idx="1">
                  <c:v>2517280</c:v>
                </c:pt>
                <c:pt idx="2">
                  <c:v>2593951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31ccd36-6ab2-4da1-bfb3-b5a61de26d5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B4FBE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UPI</c:v>
                </c:pt>
                <c:pt idx="1">
                  <c:v>Credit Card</c:v>
                </c:pt>
                <c:pt idx="2">
                  <c:v>Cash</c:v>
                </c:pt>
                <c:pt idx="3">
                  <c:v>Debit Card</c:v>
                </c:pt>
                <c:pt idx="4">
                  <c:v>Net Banking</c:v>
                </c:pt>
                <c:pt idx="5">
                  <c:v>Wallet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35.04</c:v>
                </c:pt>
                <c:pt idx="1">
                  <c:v>20.36</c:v>
                </c:pt>
                <c:pt idx="2">
                  <c:v>14.8</c:v>
                </c:pt>
                <c:pt idx="3">
                  <c:v>14.76</c:v>
                </c:pt>
                <c:pt idx="4">
                  <c:v>9.92</c:v>
                </c:pt>
                <c:pt idx="5">
                  <c:v>5.12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af11857-483e-4fb7-8a67-1f53c84e4e8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FBE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E293B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8.4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E293B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8.2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E293B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7.6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0" i="0" u="none" strike="noStrike" kern="1200" baseline="0">
                        <a:solidFill>
                          <a:srgbClr val="1E293B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7.9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Wholesale</c:v>
                </c:pt>
                <c:pt idx="1">
                  <c:v>Retail Customer</c:v>
                </c:pt>
                <c:pt idx="2">
                  <c:v>Online</c:v>
                </c:pt>
                <c:pt idx="3">
                  <c:v>Corporate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8.44</c:v>
                </c:pt>
                <c:pt idx="1">
                  <c:v>8.17</c:v>
                </c:pt>
                <c:pt idx="2">
                  <c:v>7.65</c:v>
                </c:pt>
                <c:pt idx="3">
                  <c:v>7.94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7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b654037-e8e1-4790-9a8a-58d9b6d3f1f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Beverages</c:v>
                </c:pt>
                <c:pt idx="1">
                  <c:v>Frozen &amp; Pkg</c:v>
                </c:pt>
                <c:pt idx="2">
                  <c:v>Stationery</c:v>
                </c:pt>
                <c:pt idx="3">
                  <c:v>Health &amp; Wellness</c:v>
                </c:pt>
                <c:pt idx="4">
                  <c:v>Baby &amp; Kids</c:v>
                </c:pt>
                <c:pt idx="5">
                  <c:v>Dairy &amp; Eggs</c:v>
                </c:pt>
                <c:pt idx="6">
                  <c:v>Grocery</c:v>
                </c:pt>
                <c:pt idx="7">
                  <c:v>Household</c:v>
                </c:pt>
                <c:pt idx="8">
                  <c:v>Personal Care</c:v>
                </c:pt>
                <c:pt idx="9">
                  <c:v>Snacks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8.78</c:v>
                </c:pt>
                <c:pt idx="1">
                  <c:v>8.71</c:v>
                </c:pt>
                <c:pt idx="2">
                  <c:v>8.46</c:v>
                </c:pt>
                <c:pt idx="3">
                  <c:v>8.35</c:v>
                </c:pt>
                <c:pt idx="4">
                  <c:v>8.22</c:v>
                </c:pt>
                <c:pt idx="5">
                  <c:v>8.18</c:v>
                </c:pt>
                <c:pt idx="6">
                  <c:v>8.09</c:v>
                </c:pt>
                <c:pt idx="7">
                  <c:v>7.8</c:v>
                </c:pt>
                <c:pt idx="8">
                  <c:v>7.78</c:v>
                </c:pt>
                <c:pt idx="9">
                  <c:v>7.49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2"/>
          <c:min val="7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07b96b0-81f4-4500-afa1-3a493f1f962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UPI</c:v>
                </c:pt>
              </c:strCache>
            </c:strRef>
          </c:tx>
          <c:spPr>
            <a:ln w="38100" cap="flat" cmpd="sng" algn="ctr">
              <a:solidFill>
                <a:srgbClr val="1B4F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BE"/>
              </a:solidFill>
              <a:ln w="9525" cap="flat" cmpd="sng" algn="ctr">
                <a:solidFill>
                  <a:srgbClr val="1B4FBE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34.83</c:v>
                </c:pt>
                <c:pt idx="1">
                  <c:v>35.42</c:v>
                </c:pt>
                <c:pt idx="2">
                  <c:v>34.86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Card</c:v>
                </c:pt>
              </c:strCache>
            </c:strRef>
          </c:tx>
          <c:spPr>
            <a:ln w="38100" cap="flat" cmpd="sng" algn="ctr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 cmpd="sng" algn="ctr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20.45</c:v>
                </c:pt>
                <c:pt idx="1">
                  <c:v>20.28</c:v>
                </c:pt>
                <c:pt idx="2">
                  <c:v>20.36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Cash</c:v>
                </c:pt>
              </c:strCache>
            </c:strRef>
          </c:tx>
          <c:spPr>
            <a:ln w="38100" cap="flat" cmpd="sng" algn="ctr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 cmpd="sng" algn="ctr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14.9</c:v>
                </c:pt>
                <c:pt idx="1">
                  <c:v>14.75</c:v>
                </c:pt>
                <c:pt idx="2">
                  <c:v>14.74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Debit Card</c:v>
                </c:pt>
              </c:strCache>
            </c:strRef>
          </c:tx>
          <c:spPr>
            <a:ln w="38100" cap="flat" cmpd="sng" algn="ctr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 cmpd="sng" algn="ctr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14.8</c:v>
                </c:pt>
                <c:pt idx="1">
                  <c:v>14.75</c:v>
                </c:pt>
                <c:pt idx="2">
                  <c:v>14.74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Net Banking</c:v>
                </c:pt>
              </c:strCache>
            </c:strRef>
          </c:tx>
          <c:spPr>
            <a:ln w="38100" cap="flat" cmpd="sng" algn="ctr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 cmpd="sng" algn="ctr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Sheet1!$F$2:$F$4</c:f>
              <c:numCache>
                <c:formatCode>General</c:formatCode>
                <c:ptCount val="3"/>
                <c:pt idx="0">
                  <c:v>9.85</c:v>
                </c:pt>
                <c:pt idx="1">
                  <c:v>9.72</c:v>
                </c:pt>
                <c:pt idx="2">
                  <c:v>10.18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Wallet</c:v>
                </c:pt>
              </c:strCache>
            </c:strRef>
          </c:tx>
          <c:spPr>
            <a:ln w="38100" cap="flat" cmpd="sng" algn="ctr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 cmpd="sng" algn="ctr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Sheet1!$G$2:$G$4</c:f>
              <c:numCache>
                <c:formatCode>General</c:formatCode>
                <c:ptCount val="3"/>
                <c:pt idx="0">
                  <c:v>5.17</c:v>
                </c:pt>
                <c:pt idx="1">
                  <c:v>5.08</c:v>
                </c:pt>
                <c:pt idx="2">
                  <c:v>5.12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a89e24f-fc25-45b7-af22-561062da77d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F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F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4FB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4FB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1x</c:v>
                </c:pt>
                <c:pt idx="1">
                  <c:v>2x</c:v>
                </c:pt>
                <c:pt idx="2">
                  <c:v>3x</c:v>
                </c:pt>
                <c:pt idx="3">
                  <c:v>4x</c:v>
                </c:pt>
                <c:pt idx="4">
                  <c:v>5x</c:v>
                </c:pt>
                <c:pt idx="5">
                  <c:v>6x</c:v>
                </c:pt>
                <c:pt idx="6">
                  <c:v>7x</c:v>
                </c:pt>
                <c:pt idx="7">
                  <c:v>8x</c:v>
                </c:pt>
                <c:pt idx="8">
                  <c:v>9x</c:v>
                </c:pt>
                <c:pt idx="9">
                  <c:v>10x+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</c:v>
                </c:pt>
                <c:pt idx="1">
                  <c:v>306</c:v>
                </c:pt>
                <c:pt idx="2">
                  <c:v>602</c:v>
                </c:pt>
                <c:pt idx="3">
                  <c:v>1003</c:v>
                </c:pt>
                <c:pt idx="4">
                  <c:v>1201</c:v>
                </c:pt>
                <c:pt idx="5">
                  <c:v>1302</c:v>
                </c:pt>
                <c:pt idx="6">
                  <c:v>1166</c:v>
                </c:pt>
                <c:pt idx="7">
                  <c:v>892</c:v>
                </c:pt>
                <c:pt idx="8">
                  <c:v>619</c:v>
                </c:pt>
                <c:pt idx="9">
                  <c:v>805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05fef9c-cbf7-42a6-bc2d-cef41afc130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Behaviour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2 — SuperMart 50K Dataset | 2022–2024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8" name="Shape 6"/>
          <p:cNvSpPr/>
          <p:nvPr/>
        </p:nvSpPr>
        <p:spPr>
          <a:xfrm>
            <a:off x="365760" y="4160520"/>
            <a:ext cx="1920240" cy="3657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9" name="Text 7"/>
          <p:cNvSpPr/>
          <p:nvPr/>
        </p:nvSpPr>
        <p:spPr>
          <a:xfrm>
            <a:off x="365760" y="4187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~8,000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4160520"/>
            <a:ext cx="1920240" cy="3657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1" name="Text 9"/>
          <p:cNvSpPr/>
          <p:nvPr/>
        </p:nvSpPr>
        <p:spPr>
          <a:xfrm>
            <a:off x="2560320" y="4187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Segments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4160520"/>
            <a:ext cx="1920240" cy="3657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3" name="Text 11"/>
          <p:cNvSpPr/>
          <p:nvPr/>
        </p:nvSpPr>
        <p:spPr>
          <a:xfrm>
            <a:off x="4754880" y="4187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4160520"/>
            <a:ext cx="1920240" cy="3657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5" name="Text 13"/>
          <p:cNvSpPr/>
          <p:nvPr/>
        </p:nvSpPr>
        <p:spPr>
          <a:xfrm>
            <a:off x="6949440" y="4187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₹38M+ Revenue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 — Key Findings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8580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54864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65760" y="777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82296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Customer dominates with ₹1.92Cr revenue (50%+ of total)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68580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685800"/>
            <a:ext cx="54864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3" name="Text 11"/>
          <p:cNvSpPr/>
          <p:nvPr/>
        </p:nvSpPr>
        <p:spPr>
          <a:xfrm>
            <a:off x="4800600" y="7772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0" y="82296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is the #1 payment mode at 35% — stable across all 3 years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196596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65960"/>
            <a:ext cx="54864" cy="10972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7" name="Text 15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↩️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210312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Wholesale has the highest return rate (8.44%) — above 8%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965960"/>
            <a:ext cx="54864" cy="10972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800600" y="2057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0" y="210312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Stellar 98.9% repeat buyer rate — near-perfect customer loyalty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23723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246120"/>
            <a:ext cx="54864" cy="10972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5" name="Text 23"/>
          <p:cNvSpPr/>
          <p:nvPr/>
        </p:nvSpPr>
        <p:spPr>
          <a:xfrm>
            <a:off x="365760" y="3337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240" y="338328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3,188 high-value customers (&gt;₹5,000 total spend) out of 7,983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206240" cy="1097280"/>
          </a:xfrm>
          <a:prstGeom prst="rect">
            <a:avLst/>
          </a:prstGeom>
          <a:solidFill>
            <a:srgbClr val="F0F4FF"/>
          </a:solidFill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246120"/>
            <a:ext cx="54864" cy="10972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9" name="Text 27"/>
          <p:cNvSpPr/>
          <p:nvPr/>
        </p:nvSpPr>
        <p:spPr>
          <a:xfrm>
            <a:off x="4800600" y="3337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12080" y="338328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segments share similar ~50.8% profit margin — very balanced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KPI Dashboard — At a Glance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64008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640080"/>
            <a:ext cx="64008" cy="10515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9" name="Text 7"/>
          <p:cNvSpPr/>
          <p:nvPr/>
        </p:nvSpPr>
        <p:spPr>
          <a:xfrm>
            <a:off x="274320" y="7132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93268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₹3.80 Cr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segments combined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59152" y="64008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59152" y="640080"/>
            <a:ext cx="64008" cy="10515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2496312" y="7132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312" y="93268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₹1.93 Cr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96312" y="12984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margin: 50.8%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81144" y="64008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1144" y="640080"/>
            <a:ext cx="64008" cy="10515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4718304" y="7132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18304" y="93268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18304" y="12984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2022–2024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64008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640080"/>
            <a:ext cx="64008" cy="10515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4" name="Text 22"/>
          <p:cNvSpPr/>
          <p:nvPr/>
        </p:nvSpPr>
        <p:spPr>
          <a:xfrm>
            <a:off x="6940296" y="71323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93268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7,983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0296" y="129844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4 segments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00" y="290830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" y="2926080"/>
            <a:ext cx="64008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200660" y="29814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Customers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25551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3,188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74320" y="362127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&gt;₹5,000 total spend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5492" y="290830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359152" y="2926080"/>
            <a:ext cx="64008" cy="10515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4" name="Text 32"/>
          <p:cNvSpPr/>
          <p:nvPr/>
        </p:nvSpPr>
        <p:spPr>
          <a:xfrm>
            <a:off x="2422652" y="29814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Buyer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96312" y="325551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98.9%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496312" y="362127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2+ orders placed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07484" y="290830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81144" y="2926080"/>
            <a:ext cx="64008" cy="10515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9" name="Text 37"/>
          <p:cNvSpPr/>
          <p:nvPr/>
        </p:nvSpPr>
        <p:spPr>
          <a:xfrm>
            <a:off x="4644644" y="29814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Return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18304" y="325551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8.09%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718304" y="362127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&lt;5%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9476" y="2908300"/>
            <a:ext cx="210312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2926080"/>
            <a:ext cx="64008" cy="10515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44" name="Text 42"/>
          <p:cNvSpPr/>
          <p:nvPr/>
        </p:nvSpPr>
        <p:spPr>
          <a:xfrm>
            <a:off x="6866636" y="2981452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Payment Mode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40296" y="3255518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35%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940296" y="3621278"/>
            <a:ext cx="19202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share 2022–24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by Customer Segment (2022–2024)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59436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621792"/>
            <a:ext cx="2834640" cy="9601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26480" y="621792"/>
            <a:ext cx="64008" cy="9601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7"/>
          <p:cNvSpPr/>
          <p:nvPr/>
        </p:nvSpPr>
        <p:spPr>
          <a:xfrm>
            <a:off x="6263640" y="69494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91440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₹1.92Cr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35240" y="91440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50.3%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26480" y="1673352"/>
            <a:ext cx="2834640" cy="9601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673352"/>
            <a:ext cx="64008" cy="96012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5" name="Text 12"/>
          <p:cNvSpPr/>
          <p:nvPr/>
        </p:nvSpPr>
        <p:spPr>
          <a:xfrm>
            <a:off x="6263640" y="174650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196596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₹77.1L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35240" y="196596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F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20.2%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26480" y="2724912"/>
            <a:ext cx="2834640" cy="9601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2724912"/>
            <a:ext cx="64008" cy="9601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0" name="Text 17"/>
          <p:cNvSpPr/>
          <p:nvPr/>
        </p:nvSpPr>
        <p:spPr>
          <a:xfrm>
            <a:off x="6263640" y="279806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Wholesale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63640" y="30175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₹75.7L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35240" y="301752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19.8%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26480" y="3776472"/>
            <a:ext cx="2834640" cy="9601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26480" y="3776472"/>
            <a:ext cx="64008" cy="9601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5" name="Text 22"/>
          <p:cNvSpPr/>
          <p:nvPr/>
        </p:nvSpPr>
        <p:spPr>
          <a:xfrm>
            <a:off x="6263640" y="3849624"/>
            <a:ext cx="2606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406908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₹35.4L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635240" y="406908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9.3%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× Year Pivot — Revenue, Profit, Orders, Margin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74320" y="640080"/>
          <a:ext cx="8595360" cy="4279392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920240"/>
                <a:gridCol w="173736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(₹)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Profit (₹)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Corporate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₹2,493,441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₹1,265,024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3,270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50.77%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Corporate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₹2,636,416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₹1,335,167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50.66%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Corporate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₹2,576,470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₹1,312,644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3,345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50.95%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Online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₹1,183,475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₹602,645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1,640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50.93%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Online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₹1,143,032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₹580,217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1,574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50.76%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Online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₹1,215,998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₹613,897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1,665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50.48%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Retail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₹6,440,209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₹3,280,832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8,412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50.94%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Retail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₹6,464,991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₹3,287,890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8,397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50.85%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Retail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₹6,275,148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₹3,193,031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8,307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50.88%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Wholesale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₹2,460,159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₹1,246,542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3,315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50.67%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Wholesale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₹2,517,280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₹1,280,275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3,361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50.86%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Wholesale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₹2,593,951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₹1,320,676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3,314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50.91%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Mode Distribution — Donut Chart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640080"/>
          <a:ext cx="49377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640080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640080"/>
            <a:ext cx="64008" cy="5943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0" name="Text 7"/>
          <p:cNvSpPr/>
          <p:nvPr/>
        </p:nvSpPr>
        <p:spPr>
          <a:xfrm>
            <a:off x="5577840" y="6858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68580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4F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35.04%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77840" y="1005840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Shape 10"/>
          <p:cNvSpPr/>
          <p:nvPr/>
        </p:nvSpPr>
        <p:spPr>
          <a:xfrm>
            <a:off x="5577840" y="1005840"/>
            <a:ext cx="2803550" cy="109728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4" name="Shape 11"/>
          <p:cNvSpPr/>
          <p:nvPr/>
        </p:nvSpPr>
        <p:spPr>
          <a:xfrm>
            <a:off x="5394960" y="1316736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1316736"/>
            <a:ext cx="64008" cy="5943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3"/>
          <p:cNvSpPr/>
          <p:nvPr/>
        </p:nvSpPr>
        <p:spPr>
          <a:xfrm>
            <a:off x="5577840" y="136245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Card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1362456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20.36%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577840" y="1682496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Shape 16"/>
          <p:cNvSpPr/>
          <p:nvPr/>
        </p:nvSpPr>
        <p:spPr>
          <a:xfrm>
            <a:off x="5577840" y="1682496"/>
            <a:ext cx="1629004" cy="10972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0" name="Shape 17"/>
          <p:cNvSpPr/>
          <p:nvPr/>
        </p:nvSpPr>
        <p:spPr>
          <a:xfrm>
            <a:off x="5394960" y="1993392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1993392"/>
            <a:ext cx="64008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19"/>
          <p:cNvSpPr/>
          <p:nvPr/>
        </p:nvSpPr>
        <p:spPr>
          <a:xfrm>
            <a:off x="5577840" y="2039112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0" y="2039112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14.80%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577840" y="2359152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Shape 22"/>
          <p:cNvSpPr/>
          <p:nvPr/>
        </p:nvSpPr>
        <p:spPr>
          <a:xfrm>
            <a:off x="5577840" y="2359152"/>
            <a:ext cx="1184148" cy="1097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Shape 23"/>
          <p:cNvSpPr/>
          <p:nvPr/>
        </p:nvSpPr>
        <p:spPr>
          <a:xfrm>
            <a:off x="5394960" y="2670048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94960" y="2670048"/>
            <a:ext cx="64008" cy="5943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5"/>
          <p:cNvSpPr/>
          <p:nvPr/>
        </p:nvSpPr>
        <p:spPr>
          <a:xfrm>
            <a:off x="5577840" y="271576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Debit Card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0" y="2715768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14.76%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577840" y="3035808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Shape 28"/>
          <p:cNvSpPr/>
          <p:nvPr/>
        </p:nvSpPr>
        <p:spPr>
          <a:xfrm>
            <a:off x="5577840" y="3035808"/>
            <a:ext cx="1180948" cy="10972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2" name="Shape 29"/>
          <p:cNvSpPr/>
          <p:nvPr/>
        </p:nvSpPr>
        <p:spPr>
          <a:xfrm>
            <a:off x="5394960" y="3346704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394960" y="3346704"/>
            <a:ext cx="64008" cy="5943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4" name="Text 31"/>
          <p:cNvSpPr/>
          <p:nvPr/>
        </p:nvSpPr>
        <p:spPr>
          <a:xfrm>
            <a:off x="5577840" y="339242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Banking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98080" y="3392424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9.92%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577840" y="3712464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Shape 34"/>
          <p:cNvSpPr/>
          <p:nvPr/>
        </p:nvSpPr>
        <p:spPr>
          <a:xfrm>
            <a:off x="5577840" y="3712464"/>
            <a:ext cx="793699" cy="109728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8" name="Shape 35"/>
          <p:cNvSpPr/>
          <p:nvPr/>
        </p:nvSpPr>
        <p:spPr>
          <a:xfrm>
            <a:off x="5394960" y="4023360"/>
            <a:ext cx="3566160" cy="5943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394960" y="4023360"/>
            <a:ext cx="64008" cy="5943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0" name="Text 37"/>
          <p:cNvSpPr/>
          <p:nvPr/>
        </p:nvSpPr>
        <p:spPr>
          <a:xfrm>
            <a:off x="5577840" y="40690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Wallet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98080" y="4069080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5.12%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5577840" y="4389120"/>
            <a:ext cx="3200400" cy="1097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Shape 40"/>
          <p:cNvSpPr/>
          <p:nvPr/>
        </p:nvSpPr>
        <p:spPr>
          <a:xfrm>
            <a:off x="5577840" y="4389120"/>
            <a:ext cx="409651" cy="109728"/>
          </a:xfrm>
          <a:prstGeom prst="rect">
            <a:avLst/>
          </a:prstGeom>
          <a:solidFill>
            <a:srgbClr val="EF4444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 by Customer Segment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59436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640080"/>
            <a:ext cx="3200400" cy="1463040"/>
          </a:xfrm>
          <a:prstGeom prst="rect">
            <a:avLst/>
          </a:prstGeom>
          <a:solidFill>
            <a:srgbClr val="FEF2F2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640080"/>
            <a:ext cx="73152" cy="14630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0" name="Text 7"/>
          <p:cNvSpPr/>
          <p:nvPr/>
        </p:nvSpPr>
        <p:spPr>
          <a:xfrm>
            <a:off x="5943600" y="713232"/>
            <a:ext cx="2834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All Segments Above Target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1078992"/>
            <a:ext cx="2834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target: &lt;5%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avg: ~8.05%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4 segments need improvement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3200400" cy="25603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73152" cy="256032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4" name="Text 11"/>
          <p:cNvSpPr/>
          <p:nvPr/>
        </p:nvSpPr>
        <p:spPr>
          <a:xfrm>
            <a:off x="5943600" y="235915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High Returns?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2743200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Wholesale: Bulk orders, quality mismatch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3218688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Retail: Impulse purchases, size/fit issues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694176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Corporate: Procurement misalignment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4169664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Online: Product-image discrepancy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Rate by Product Category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594360"/>
          <a:ext cx="8595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Growth Trend — 2022 to 2024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64008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640080"/>
            <a:ext cx="2286000" cy="1828800"/>
          </a:xfrm>
          <a:prstGeom prst="rect">
            <a:avLst/>
          </a:prstGeom>
          <a:solidFill>
            <a:srgbClr val="DBEAFE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0" y="713232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BE"/>
                </a:solidFill>
              </a:rPr>
              <a:t>📱 UPI Dominates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115568"/>
            <a:ext cx="2103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2022: 34.83%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2023: 35.42% 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2024: 34.86% 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1783080"/>
            <a:ext cx="2103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 dominance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peaking in 2023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75120" y="2651760"/>
            <a:ext cx="2286000" cy="16459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272491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💡 Insight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3035808"/>
            <a:ext cx="21031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growth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stable, not explosive.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 push needed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further adoption.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Purchase Frequency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64008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640080"/>
            <a:ext cx="228600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640080"/>
            <a:ext cx="64008" cy="73152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0" name="Text 7"/>
          <p:cNvSpPr/>
          <p:nvPr/>
        </p:nvSpPr>
        <p:spPr>
          <a:xfrm>
            <a:off x="6812280" y="68580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12280" y="94183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7,983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75120" y="1463040"/>
            <a:ext cx="228600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0" y="1463040"/>
            <a:ext cx="64008" cy="7315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1"/>
          <p:cNvSpPr/>
          <p:nvPr/>
        </p:nvSpPr>
        <p:spPr>
          <a:xfrm>
            <a:off x="6812280" y="150876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Repeat Buyers (2+)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12280" y="176479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7,896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75120" y="2286000"/>
            <a:ext cx="228600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0" y="2286000"/>
            <a:ext cx="64008" cy="7315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5"/>
          <p:cNvSpPr/>
          <p:nvPr/>
        </p:nvSpPr>
        <p:spPr>
          <a:xfrm>
            <a:off x="6812280" y="233172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Repeat Rate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12280" y="258775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98.9%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75120" y="3108960"/>
            <a:ext cx="228600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75120" y="3108960"/>
            <a:ext cx="64008" cy="7315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19"/>
          <p:cNvSpPr/>
          <p:nvPr/>
        </p:nvSpPr>
        <p:spPr>
          <a:xfrm>
            <a:off x="6812280" y="315468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Peak Frequency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12280" y="341071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6 orders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3931920"/>
            <a:ext cx="2286000" cy="7315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75120" y="3931920"/>
            <a:ext cx="64008" cy="7315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6" name="Text 23"/>
          <p:cNvSpPr/>
          <p:nvPr/>
        </p:nvSpPr>
        <p:spPr>
          <a:xfrm>
            <a:off x="6812280" y="397764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Orders/Customer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12280" y="4233672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~6.3x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Customer Analysis (Spend &gt; ₹5,000)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640080"/>
            <a:ext cx="4206240" cy="22860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822960"/>
            <a:ext cx="42062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3,188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</a:rPr>
              <a:t>High-Value Customers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Out of 7,983 total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4206240" cy="13716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108960"/>
            <a:ext cx="4206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4FBE"/>
                </a:solidFill>
              </a:rPr>
              <a:t>39.9%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4320" y="370332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of all customers are high-value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657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Shape 13"/>
          <p:cNvSpPr/>
          <p:nvPr/>
        </p:nvSpPr>
        <p:spPr>
          <a:xfrm>
            <a:off x="548640" y="4114800"/>
            <a:ext cx="1459382" cy="164592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6" name="Shape 14"/>
          <p:cNvSpPr/>
          <p:nvPr/>
        </p:nvSpPr>
        <p:spPr>
          <a:xfrm>
            <a:off x="4754880" y="640080"/>
            <a:ext cx="4206240" cy="128016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640080"/>
            <a:ext cx="73152" cy="12801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4937760" y="7315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VLOOKUP Exercise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05156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customers: IF TotalSpend &gt; 5000 → 'High Value' else 'Standard'. 3,188 flagged high-value.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206240" cy="128016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57400"/>
            <a:ext cx="73152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20"/>
          <p:cNvSpPr/>
          <p:nvPr/>
        </p:nvSpPr>
        <p:spPr>
          <a:xfrm>
            <a:off x="4937760" y="2148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Revenue 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46888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customers drive disproportionate revenue — priority for retention campaigns &amp; loyalty rewards.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206240" cy="128016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26" name="Text 24"/>
          <p:cNvSpPr/>
          <p:nvPr/>
        </p:nvSpPr>
        <p:spPr>
          <a:xfrm>
            <a:off x="4937760" y="35661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Action Required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84048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standard customers with targeted offers to uplift to ₹5,000+ spend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Scorecard — Retail Customer 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9319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₹1.92 Cr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50.3% of total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68580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331927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₹97.6L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927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₹3.89 Cr overall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68580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24535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25,116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4535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50.2% of all orders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192024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39319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₹763.67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319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2nd highest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192024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331927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927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50.89%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1927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Highest margin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920240"/>
            <a:ext cx="73152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624535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Return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8.17%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4535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Above 5% target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108960"/>
            <a:ext cx="8686800" cy="1645920"/>
          </a:xfrm>
          <a:prstGeom prst="rect">
            <a:avLst/>
          </a:prstGeom>
          <a:solidFill>
            <a:srgbClr val="FEF3C7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108960"/>
            <a:ext cx="73152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411480" y="3182112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🏆 Retail is #1 — But Needs Return Rate Work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" y="3547872"/>
            <a:ext cx="83210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Customer segment accounts for 50%+ of all revenue and orders. It has the highest profit margin (50.89%) among all segments. However, the 8.17% return rate remains above the 5% target — focus on post-purchase support and quality assurance.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Scorecard — Corporate 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9" name="Text 7"/>
          <p:cNvSpPr/>
          <p:nvPr/>
        </p:nvSpPr>
        <p:spPr>
          <a:xfrm>
            <a:off x="39319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₹77.1L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20.2% of total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68580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4" name="Text 12"/>
          <p:cNvSpPr/>
          <p:nvPr/>
        </p:nvSpPr>
        <p:spPr>
          <a:xfrm>
            <a:off x="331927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₹39.1L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927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Margin: 50.77%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68580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68580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9" name="Text 17"/>
          <p:cNvSpPr/>
          <p:nvPr/>
        </p:nvSpPr>
        <p:spPr>
          <a:xfrm>
            <a:off x="6245352" y="7589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101498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10,015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4535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20.0% of all orders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192024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24" name="Text 22"/>
          <p:cNvSpPr/>
          <p:nvPr/>
        </p:nvSpPr>
        <p:spPr>
          <a:xfrm>
            <a:off x="39319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₹769.48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319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Highest AOV 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192024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29" name="Text 27"/>
          <p:cNvSpPr/>
          <p:nvPr/>
        </p:nvSpPr>
        <p:spPr>
          <a:xfrm>
            <a:off x="331927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Return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927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7.94%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1927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2nd lowest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1920240"/>
            <a:ext cx="2743200" cy="109728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920240"/>
            <a:ext cx="73152" cy="10972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34" name="Text 32"/>
          <p:cNvSpPr/>
          <p:nvPr/>
        </p:nvSpPr>
        <p:spPr>
          <a:xfrm>
            <a:off x="6245352" y="19933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YoY Growth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224942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2022→23: +5.7%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45352" y="2651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2023→24: -2.3%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108960"/>
            <a:ext cx="8686800" cy="1645920"/>
          </a:xfrm>
          <a:prstGeom prst="rect">
            <a:avLst/>
          </a:prstGeom>
          <a:solidFill>
            <a:srgbClr val="DBEAFE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108960"/>
            <a:ext cx="73152" cy="164592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39" name="Text 37"/>
          <p:cNvSpPr/>
          <p:nvPr/>
        </p:nvSpPr>
        <p:spPr>
          <a:xfrm>
            <a:off x="411480" y="3182112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🏢 Corporate — Premium Buyers, Slightly Declining in 2024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1480" y="3547872"/>
            <a:ext cx="832104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 segment has the HIGHEST average order value (₹769.48). Revenue peaked in 2023 and dipped slightly in 2024 — investigate procurement cycle changes. The 7.94% return rate is manageable. Focus on B2B account management and bulk-order deals to re-accelerate growth.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Scorecard — Wholesale &amp; Online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4297680" cy="4114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" name="Text 6"/>
          <p:cNvSpPr/>
          <p:nvPr/>
        </p:nvSpPr>
        <p:spPr>
          <a:xfrm>
            <a:off x="182880" y="640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🏭 WHOLESALE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097280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097280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320040" y="11521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₹75.7L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331720" y="1097280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1097280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5" name="Text 13"/>
          <p:cNvSpPr/>
          <p:nvPr/>
        </p:nvSpPr>
        <p:spPr>
          <a:xfrm>
            <a:off x="2468880" y="11521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14173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₹38.5L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82880" y="2084832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084832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320040" y="21396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Orders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40487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9,990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31720" y="2084832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31720" y="2084832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2468880" y="21396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Margin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240487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50.82%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82880" y="3072384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072384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320040" y="31272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AOV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39242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₹757.90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331720" y="3072384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31720" y="3072384"/>
            <a:ext cx="64008" cy="8686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1" name="Text 29"/>
          <p:cNvSpPr/>
          <p:nvPr/>
        </p:nvSpPr>
        <p:spPr>
          <a:xfrm>
            <a:off x="2468880" y="31272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Return 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339242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8.44% ⚠️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82880" y="4050792"/>
            <a:ext cx="4297680" cy="685800"/>
          </a:xfrm>
          <a:prstGeom prst="rect">
            <a:avLst/>
          </a:prstGeom>
          <a:solidFill>
            <a:srgbClr val="EDE9FE"/>
          </a:solidFill>
        </p:spPr>
      </p:sp>
      <p:sp>
        <p:nvSpPr>
          <p:cNvPr id="34" name="Text 32"/>
          <p:cNvSpPr/>
          <p:nvPr/>
        </p:nvSpPr>
        <p:spPr>
          <a:xfrm>
            <a:off x="320040" y="4096512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Highest return rate (8.44%). Bulk order quality control critical. YoY revenue growing steadily.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36576" cy="41148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Shape 34"/>
          <p:cNvSpPr/>
          <p:nvPr/>
        </p:nvSpPr>
        <p:spPr>
          <a:xfrm>
            <a:off x="4709160" y="621792"/>
            <a:ext cx="4297680" cy="4114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7" name="Text 35"/>
          <p:cNvSpPr/>
          <p:nvPr/>
        </p:nvSpPr>
        <p:spPr>
          <a:xfrm>
            <a:off x="4709160" y="640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ONLINE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09160" y="1097280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1097280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0" name="Text 38"/>
          <p:cNvSpPr/>
          <p:nvPr/>
        </p:nvSpPr>
        <p:spPr>
          <a:xfrm>
            <a:off x="4846320" y="11521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14173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₹35.4L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858000" y="1097280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0" y="1097280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4" name="Text 42"/>
          <p:cNvSpPr/>
          <p:nvPr/>
        </p:nvSpPr>
        <p:spPr>
          <a:xfrm>
            <a:off x="6995160" y="115214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Profit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14173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₹18.0L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709160" y="2084832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084832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8" name="Text 46"/>
          <p:cNvSpPr/>
          <p:nvPr/>
        </p:nvSpPr>
        <p:spPr>
          <a:xfrm>
            <a:off x="4846320" y="21396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Orders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240487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4,879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858000" y="2084832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58000" y="2084832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2" name="Text 50"/>
          <p:cNvSpPr/>
          <p:nvPr/>
        </p:nvSpPr>
        <p:spPr>
          <a:xfrm>
            <a:off x="6995160" y="2139696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Margin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95160" y="240487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50.72%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709160" y="3072384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072384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6" name="Text 54"/>
          <p:cNvSpPr/>
          <p:nvPr/>
        </p:nvSpPr>
        <p:spPr>
          <a:xfrm>
            <a:off x="4846320" y="31272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AOV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46320" y="339242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₹726.07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858000" y="3072384"/>
            <a:ext cx="2057400" cy="8686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858000" y="3072384"/>
            <a:ext cx="64008" cy="8686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0" name="Text 58"/>
          <p:cNvSpPr/>
          <p:nvPr/>
        </p:nvSpPr>
        <p:spPr>
          <a:xfrm>
            <a:off x="6995160" y="312724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Return Rate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95160" y="3392424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7.65% ✅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4709160" y="4050792"/>
            <a:ext cx="4297680" cy="685800"/>
          </a:xfrm>
          <a:prstGeom prst="rect">
            <a:avLst/>
          </a:prstGeom>
          <a:solidFill>
            <a:srgbClr val="CCFBF1"/>
          </a:solidFill>
        </p:spPr>
      </p:sp>
      <p:sp>
        <p:nvSpPr>
          <p:cNvPr id="63" name="Text 61"/>
          <p:cNvSpPr/>
          <p:nvPr/>
        </p:nvSpPr>
        <p:spPr>
          <a:xfrm>
            <a:off x="4846320" y="4096512"/>
            <a:ext cx="4023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Lowest return rate (7.65%). Smallest segment — growth opportunity via digital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Questions — Answered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21792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621792"/>
            <a:ext cx="64008" cy="5669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347472" y="65836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Q1. Which segment generates highest revenue?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13632" y="658368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Retail Customer — ₹1.92 Cr (50.3% of total)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234440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234440"/>
            <a:ext cx="64008" cy="56692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347472" y="1271016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Q2. Which segment has lowest profit margin?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13632" y="1271016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Online (50.72%) — slightly lower due to delivery discounts &amp; digital promotions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847088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1847088"/>
            <a:ext cx="64008" cy="56692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347472" y="1883664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Q3. What % of customers are repeat buyers (2+)?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13632" y="1883664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98.9% — 7,896 out of 7,983 customers placed 2+ orders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459736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459736"/>
            <a:ext cx="64008" cy="566928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21" name="Text 19"/>
          <p:cNvSpPr/>
          <p:nvPr/>
        </p:nvSpPr>
        <p:spPr>
          <a:xfrm>
            <a:off x="347472" y="2496312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Q4. Is UPI growing 2022–2024?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2496312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Stable, not explosive. Peak 35.42% in 2023, slight dip to 34.86% in 2024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072384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072384"/>
            <a:ext cx="64008" cy="56692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5" name="Text 23"/>
          <p:cNvSpPr/>
          <p:nvPr/>
        </p:nvSpPr>
        <p:spPr>
          <a:xfrm>
            <a:off x="347472" y="3108960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Q5. Which segment has highest return rate?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13632" y="3108960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Wholesale at 8.44% — bulk orders and quality mismatch are key drivers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685032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85032"/>
            <a:ext cx="64008" cy="56692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9" name="Text 27"/>
          <p:cNvSpPr/>
          <p:nvPr/>
        </p:nvSpPr>
        <p:spPr>
          <a:xfrm>
            <a:off x="347472" y="3721608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Q6. AOV — Corporate vs Retail?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13632" y="3721608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Corporate: ₹769.48 vs Retail: ₹763.67 — Corporate spends slightly more per order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4297680"/>
            <a:ext cx="8778240" cy="566928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4297680"/>
            <a:ext cx="64008" cy="566928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3" name="Text 31"/>
          <p:cNvSpPr/>
          <p:nvPr/>
        </p:nvSpPr>
        <p:spPr>
          <a:xfrm>
            <a:off x="347472" y="4334256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Q7. How many high-value customers (&gt;₹5K)?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13632" y="4334256"/>
            <a:ext cx="4937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3,188 customers (39.9%) — strong base for loyalty &amp; premium programs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" name="Text 4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| Case Study 2 — Customer Behaviour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640080"/>
            <a:ext cx="8778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640080"/>
            <a:ext cx="73152" cy="77724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9" name="Text 7"/>
          <p:cNvSpPr/>
          <p:nvPr/>
        </p:nvSpPr>
        <p:spPr>
          <a:xfrm>
            <a:off x="347472" y="694944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⚙️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01000" y="731520"/>
            <a:ext cx="868680" cy="25603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1" name="Text 9"/>
          <p:cNvSpPr/>
          <p:nvPr/>
        </p:nvSpPr>
        <p:spPr>
          <a:xfrm>
            <a:off x="8001000" y="731520"/>
            <a:ext cx="868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713232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return rates across all segments — introduce better product descriptions, quality checks, and easy-returns education.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81328"/>
            <a:ext cx="8778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481328"/>
            <a:ext cx="73152" cy="77724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5" name="Text 13"/>
          <p:cNvSpPr/>
          <p:nvPr/>
        </p:nvSpPr>
        <p:spPr>
          <a:xfrm>
            <a:off x="347472" y="153619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BE"/>
                </a:solidFill>
              </a:rPr>
              <a:t>💳 Finance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572768"/>
            <a:ext cx="868680" cy="25603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7" name="Text 15"/>
          <p:cNvSpPr/>
          <p:nvPr/>
        </p:nvSpPr>
        <p:spPr>
          <a:xfrm>
            <a:off x="8001000" y="1572768"/>
            <a:ext cx="868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1554480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at 35% is plateauing — offer cashback &amp; exclusive UPI deals to push share above 40% by 2025.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322576"/>
            <a:ext cx="8778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322576"/>
            <a:ext cx="73152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347472" y="237744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🎯 Marketing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2414016"/>
            <a:ext cx="868680" cy="25603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23" name="Text 21"/>
          <p:cNvSpPr/>
          <p:nvPr/>
        </p:nvSpPr>
        <p:spPr>
          <a:xfrm>
            <a:off x="8001000" y="2414016"/>
            <a:ext cx="868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395728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Retain and upsell to the 3,188 high-value customers. Launch a loyalty program with tiered rewards above ₹5,000.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3163824"/>
            <a:ext cx="8778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163824"/>
            <a:ext cx="73152" cy="7772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7" name="Text 25"/>
          <p:cNvSpPr/>
          <p:nvPr/>
        </p:nvSpPr>
        <p:spPr>
          <a:xfrm>
            <a:off x="347472" y="3218688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📈 Sales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3255264"/>
            <a:ext cx="868680" cy="25603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9" name="Text 27"/>
          <p:cNvSpPr/>
          <p:nvPr/>
        </p:nvSpPr>
        <p:spPr>
          <a:xfrm>
            <a:off x="8001000" y="3255264"/>
            <a:ext cx="868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236976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 segment AOV is highest — invest in B2B account management and corporate deals to re-boost 2024 dip.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4005072"/>
            <a:ext cx="8778240" cy="7772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4005072"/>
            <a:ext cx="73152" cy="7772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3" name="Text 31"/>
          <p:cNvSpPr/>
          <p:nvPr/>
        </p:nvSpPr>
        <p:spPr>
          <a:xfrm>
            <a:off x="347472" y="4059936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🌐 Digital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01000" y="4096512"/>
            <a:ext cx="868680" cy="25603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5" name="Text 33"/>
          <p:cNvSpPr/>
          <p:nvPr/>
        </p:nvSpPr>
        <p:spPr>
          <a:xfrm>
            <a:off x="8001000" y="4096512"/>
            <a:ext cx="868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078224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segment is smallest (9.3%) — highest growth potential. Expand D2C presence with targeted social media marketing.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SuperMart Customer Behaviour Analysis — Case Study 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8" name="Shape 6"/>
          <p:cNvSpPr/>
          <p:nvPr/>
        </p:nvSpPr>
        <p:spPr>
          <a:xfrm>
            <a:off x="365760" y="3474720"/>
            <a:ext cx="1920240" cy="8686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9" name="Text 7"/>
          <p:cNvSpPr/>
          <p:nvPr/>
        </p:nvSpPr>
        <p:spPr>
          <a:xfrm>
            <a:off x="365760" y="3493008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 Orders Analysed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3474720"/>
            <a:ext cx="1920240" cy="8686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1" name="Text 9"/>
          <p:cNvSpPr/>
          <p:nvPr/>
        </p:nvSpPr>
        <p:spPr>
          <a:xfrm>
            <a:off x="2468880" y="3493008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7,983 Unique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474720"/>
            <a:ext cx="1920240" cy="8686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3" name="Text 11"/>
          <p:cNvSpPr/>
          <p:nvPr/>
        </p:nvSpPr>
        <p:spPr>
          <a:xfrm>
            <a:off x="4572000" y="3493008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Segments Decoded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474720"/>
            <a:ext cx="1920240" cy="868680"/>
          </a:xfrm>
          <a:prstGeom prst="rect">
            <a:avLst/>
          </a:prstGeom>
          <a:solidFill>
            <a:srgbClr val="1B4FBE"/>
          </a:solidFill>
        </p:spPr>
      </p:sp>
      <p:sp>
        <p:nvSpPr>
          <p:cNvPr id="15" name="Text 13"/>
          <p:cNvSpPr/>
          <p:nvPr/>
        </p:nvSpPr>
        <p:spPr>
          <a:xfrm>
            <a:off x="6675120" y="3493008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₹3.80 Cr Revenue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6753</Words>
  <Application>WPS Presentation</Application>
  <PresentationFormat>On-screen Show (16:9)</PresentationFormat>
  <Paragraphs>632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Customer Behaviour Analysis</dc:title>
  <dc:creator>SuperMart Analytics</dc:creator>
  <dc:subject>PptxGenJS Presentation</dc:subject>
  <cp:lastModifiedBy>MADHESH_HOPE_01</cp:lastModifiedBy>
  <cp:revision>3</cp:revision>
  <dcterms:created xsi:type="dcterms:W3CDTF">2026-05-22T02:54:00Z</dcterms:created>
  <dcterms:modified xsi:type="dcterms:W3CDTF">2026-05-25T08:30:45Z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38FDAA9D88B64342B8B92DC9FE9689D8_12</vt:lpwstr>
  </property>
  <property fmtid="{D5CDD505-2E9C-101B-9397-08002B2CF9AE}" pid="3" name="KSOProductBuildVer">
    <vt:lpwstr>1033-12.1.0.26372</vt:lpwstr>
  </property>
</Properties>
</file>